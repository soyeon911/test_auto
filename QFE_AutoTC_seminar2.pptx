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
<Relationships xmlns="http://schemas.openxmlformats.org/package/2006/relationships">
  
		
  <Relationship Id="rId1" Type="http://schemas.openxmlformats.org/officeDocument/2006/relationships/extended-properties" Target="docProps/app.xml"/>
  
		
  <Relationship Id="rId2" Type="http://schemas.openxmlformats.org/package/2006/relationships/metadata/core-properties" Target="docProps/core.xml"/>
  
		
  <Relationship Id="rId3" Type="http://schemas.openxmlformats.org/officeDocument/2006/relationships/officeDocument" Target="ppt/presentation.xml"/>
  
		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24"/>
    <p:sldId id="274" r:id="rId25"/>
    <p:sldId id="275" r:id="rId26"/>
    <p:sldId id="276" r:id="rId27"/>
    <p:sldId id="277" r:id="rId28"/>
    <p:sldId id="278" r:id="rId29"/>
    <p:sldId id="273" r:id="rId24"/>
    <p:sldId id="274" r:id="rId25"/>
    <p:sldId id="275" r:id="rId26"/>
    <p:sldId id="276" r:id="rId27"/>
    <p:sldId id="277" r:id="rId28"/>
    <p:sldId id="278" r:id="rId29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notesMaster" Target="notesMasters/notesMaster1.xml"/>
  <Relationship Id="rId20" Type="http://schemas.openxmlformats.org/officeDocument/2006/relationships/presProps" Target="presProps.xml"/>
  <Relationship Id="rId21" Type="http://schemas.openxmlformats.org/officeDocument/2006/relationships/viewProps" Target="viewProps.xml"/>
  <Relationship Id="rId22" Type="http://schemas.openxmlformats.org/officeDocument/2006/relationships/theme" Target="theme/theme1.xml"/>
  <Relationship Id="rId23" Type="http://schemas.openxmlformats.org/officeDocument/2006/relationships/tableStyles" Target="tableStyles.xml"/>
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</Relationships>

</file>

<file path=ppt/notesMasters/_rels/notesMaster1.xml.rels><?xml version="1.0" encoding="utf-8"?>
<Relationships xmlns="http://schemas.openxmlformats.org/package/2006/relationships">
  
		
  <Relationship Id="rId1" Type="http://schemas.openxmlformats.org/officeDocument/2006/relationships/theme" Target="../theme/theme1.xml"/>
  
		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.xml"/>
  
		
</Relationships>

</file>

<file path=ppt/notesSlides/_rels/notesSlide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2.xml"/>
  
		
</Relationships>

</file>

<file path=ppt/notesSlides/_rels/notesSlide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3.xml"/>
  
		
</Relationships>

</file>

<file path=ppt/notesSlides/_rels/notesSlide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4.xml"/>
  
		
</Relationships>

</file>

<file path=ppt/notesSlides/_rels/notesSlide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5.xml"/>
  
		
</Relationships>

</file>

<file path=ppt/notesSlides/_rels/notesSlide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6.xml"/>
  
		
</Relationships>

</file>

<file path=ppt/notesSlides/_rels/notesSlide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7.xml"/>
  
		
</Relationships>

</file>

<file path=ppt/notesSlides/_rels/notesSlide8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8.xml"/>
  
		
</Relationships>

</file>

<file path=ppt/notesSlides/_rels/notesSlide9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9.xml"/>
  
		
</Relationships>

</file>

<file path=ppt/notesSlides/_rels/notesSlide10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0.xml"/>
  
		
</Relationships>

</file>

<file path=ppt/notesSlides/_rels/notesSlide11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1.xml"/>
  
		
</Relationships>

</file>

<file path=ppt/notesSlides/_rels/notesSlide12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2.xml"/>
  
		
</Relationships>

</file>

<file path=ppt/notesSlides/_rels/notesSlide13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3.xml"/>
  
		
</Relationships>

</file>

<file path=ppt/notesSlides/_rels/notesSlide14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4.xml"/>
  
		
</Relationships>

</file>

<file path=ppt/notesSlides/_rels/notesSlide15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5.xml"/>
  
		
</Relationships>

</file>

<file path=ppt/notesSlides/_rels/notesSlide16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6.xml"/>
  
		
</Relationships>

</file>

<file path=ppt/notesSlides/_rels/notesSlide17.xml.rels><?xml version="1.0" encoding="utf-8"?>
<Relationships xmlns="http://schemas.openxmlformats.org/package/2006/relationships">
  
			
  <Relationship Id="rId1" Type="http://schemas.openxmlformats.org/officeDocument/2006/relationships/notesMaster" Target="../notesMasters/notesMaster1.xml"/>
  
			
  <Relationship Id="rId2" Type="http://schemas.openxmlformats.org/officeDocument/2006/relationships/slide" Target="../slides/slide17.xml"/>
  
		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
</file>

<file path=ppt/slides/_rels/slide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
</file>

<file path=ppt/slides/_rels/slide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
</file>

<file path=ppt/slides/_rels/slide8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_rels/slide9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
</file>

<file path=ppt/slides/_rels/slide10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
</file>

<file path=ppt/slides/_rels/slide11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
</file>

<file path=ppt/slides/_rels/slide12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
</file>

<file path=ppt/slides/_rels/slide13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
</file>

<file path=ppt/slides/_rels/slide14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
</file>

<file path=ppt/slides/_rels/slide15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
</file>

<file path=ppt/slides/_rels/slide16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
</file>

<file path=ppt/slides/_rels/slide17.xml.rels><?xml version="1.0" encoding="utf-8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QFE AutoTC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2450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테스트 자동화 파이프라인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6928" y="3090672"/>
            <a:ext cx="832104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2186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 개발팀  |  박소연  |  2026.04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9611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34440" y="1097280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896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했는지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1704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프로젝트 개요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1463040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517904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1719072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15179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했는지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17922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이전 문제점 &amp; 자동화의 장점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2084832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139696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34440" y="2340864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1396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설계했는지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24140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9단계 파이프라인 아키텍처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2706624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7614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2962656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27614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0358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생성 로직 · CI/CD · Postman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3328416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3832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234440" y="3584448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3383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3657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 UI · Excel 리포트 2종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950208"/>
            <a:ext cx="8010144" cy="9144"/>
          </a:xfrm>
          <a:prstGeom prst="rect">
            <a:avLst/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0050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34440" y="4206240"/>
            <a:ext cx="27432" cy="2743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4005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 &amp; TODO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71600" y="427939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생산성 향상 &amp; AI Agent 도입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무엇을 했는지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— 핵심 기능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17043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명세를 입력받아 테스트 케이스를 자동 생성·실행·리포팅하는 End-to-End 파이프라인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536192"/>
            <a:ext cx="54864" cy="260604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기반 TC 자동 생성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 기반으로 Positive / Missing / Wrong Type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 / Validation 케이스를 결정론적으로 자동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Zero — AI 없이 동일 입력에 동일 출력 보장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536192"/>
            <a:ext cx="54864" cy="260604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8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다중 트리거 자동 실행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1시간 주기 스케줄 / commit push 시 / Swagger 버전 변경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(self-hosted Windows Runner)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없을 시 실행 자동 Skip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1536192"/>
            <a:ext cx="254203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536192"/>
            <a:ext cx="54864" cy="260604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6276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20F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204825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리포트 &amp; 알림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2423160"/>
            <a:ext cx="22677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리포트 2종 자동 생성 (개발자용 / QA·비개발자용)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자동 발송 + GitHub Actions Artifact 업로드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이력 자동 보존 및 추적 가능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279392"/>
            <a:ext cx="8010144" cy="256032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325112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Rule TC에 AI Agent 보완 레이어 설계 완료 (현재 비활성, 향후 적용 예정)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왜 했는지 I 자동화 이전의 문제점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수동 테스트의 한계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2618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54864" cy="12070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53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반복적인 수작업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6824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명세 변경 시마다 사람이 직접 TC를 추가·수정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업무 부담 증가, 명세 변경 추적 실패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261872"/>
            <a:ext cx="54864" cy="12070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353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Human Error &amp; 케이스 누락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9744" y="16824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임의로 지정한 케이스 위주 테스트 → 경계값·타입 오류 케이스 다수 누락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치명적 결함 사전 발견 실패 사례 다수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6334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633472"/>
            <a:ext cx="54864" cy="1207008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724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결과 추적 불가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결과가 분산 → 이력 관리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회귀 버그 발생 시 원인 시점 파악 어려움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633472"/>
            <a:ext cx="38404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2633472"/>
            <a:ext cx="54864" cy="1207008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7249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근무 시간 의존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9744" y="3054096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사람이 직접 실행해야 하므로 근무 외 시간 테스트 불가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야간·주말 배포 후 문제 발견 지연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160520"/>
            <a:ext cx="8010144" cy="347472"/>
          </a:xfrm>
          <a:prstGeom prst="rect">
            <a:avLst/>
          </a:prstGeom>
          <a:solidFill>
            <a:srgbClr val="FDF5F7"/>
          </a:solidFill>
          <a:ln w="12700">
            <a:solidFill>
              <a:srgbClr val="E8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224528"/>
            <a:ext cx="7644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결정론적으로 생성 가능한 TC조차 놓치고 있었고, 재현성·체계성이 부재한 상태였음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왜 했는지 I 자동화하면 뭐가 좋은지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B0B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28032" y="841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188720"/>
            <a:ext cx="3840480" cy="2880360"/>
          </a:xfrm>
          <a:prstGeom prst="rect">
            <a:avLst/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1188720"/>
            <a:ext cx="3840480" cy="2880360"/>
          </a:xfrm>
          <a:prstGeom prst="rect">
            <a:avLst/>
          </a:prstGeom>
          <a:solidFill>
            <a:srgbClr val="FDF5F7"/>
          </a:solidFill>
          <a:ln w="12700">
            <a:solidFill>
              <a:srgbClr val="E8C4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188720"/>
            <a:ext cx="54864" cy="2880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331720"/>
            <a:ext cx="621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9808" y="1298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TC 수가 담당자 역량에 의존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1773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경계값·타입 오류 케이스 빈번히 누락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2249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근무 시간에만 실행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2724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결과 재현 불가, 추적 어려움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200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명세 변경 시 TC 동기화 지연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298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Swagger 명세 기반 TC 완전 자동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1773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경계값·타입·정상 케이스 구조적으로 커버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2249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+ 1시간 주기 + 커밋마다 24/7 자동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7249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Excel 리포트로 결과 이력 체계 관리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32004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명세 변경 즉시 TC 자동 재생성·동기화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20624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서버가 구동 중이기만 하면 24시간 365일 자동 테스트 — 개발자는 로직에만 집중할 수 있어 팀 전체 생산성이 향상됩니다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설계했는지 I 전체 아키텍처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9단계 End-to-End 파이프라인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Parser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파싱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2471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03020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03020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1308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Enricher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321308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 태그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보강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80260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58568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58568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76856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Generator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276856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코드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035808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4116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14116" y="1261872"/>
            <a:ext cx="804672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32404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보완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32404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선택적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91356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69664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9664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87952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87952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946904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25212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25212" y="1261872"/>
            <a:ext cx="804672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43500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Runner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43500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902452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80760" y="1261872"/>
            <a:ext cx="804672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99048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로그+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재기동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858000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36308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36308" y="1261872"/>
            <a:ext cx="804672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54596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리포트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54596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2종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813548" y="15727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991856" y="1261872"/>
            <a:ext cx="8046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91856" y="1261872"/>
            <a:ext cx="804672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010144" y="1463040"/>
            <a:ext cx="7680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발송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010144" y="1984248"/>
            <a:ext cx="768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47472" y="2340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JSON/YAML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321040" y="23408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+ Email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66928" y="274320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설계 목표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6692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692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80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결정론적 재현성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4980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Swagger → 동일 TC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없이 비용 Zero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67004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7004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5292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추적성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85292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TC에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generation source 기록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7316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7316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5604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내성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95604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→ 로그 수집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재기동 → 이어서 실행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76288" y="3090672"/>
            <a:ext cx="19568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876288" y="3090672"/>
            <a:ext cx="54864" cy="1371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59168" y="318211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독립 평가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059168" y="3529584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Ollama / Claude / Gemini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기준 비교 가능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66928" y="4535424"/>
            <a:ext cx="8010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 문서: QFE_AutoTC_설계구현문서.docx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Rule 기반 TC 생성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 -&gt; TC 자동 생성 규칙 6종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234440"/>
            <a:ext cx="8010144" cy="292608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52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규칙명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1252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유형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252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케이스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1527048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5819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1581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정상(Positive)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5819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example 값으로 정상 요청 구성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1965960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02082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missing_required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20208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Required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0208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 필드 하나씩 제거 (필드 수만큼 자동 생성)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2404872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24597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wrong_type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24597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 Type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24597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정수 자리에 문자열, 문자열 자리에 정수 등 타입 교환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2843784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8986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2898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 of Range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898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minimum, minimum-1, maximum, maximum+1 경계값 4종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3282696"/>
            <a:ext cx="8010144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input_validation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011680" y="3337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337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tag별 유효하지 않은 입력 (Base64 빈값, threshold 초과 등)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3721608"/>
            <a:ext cx="8010144" cy="402336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7764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raw_image_relation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11680" y="3776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Invalid Format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0480" y="3776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width x height x channel != image_data 바이트 수 불일치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6928" y="4224528"/>
            <a:ext cx="8010144" cy="274320"/>
          </a:xfrm>
          <a:prstGeom prst="rect">
            <a:avLst/>
          </a:prstGeom>
          <a:solidFill>
            <a:srgbClr val="F5F0F1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4270248"/>
            <a:ext cx="7644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 (base64_image / threshold_numeric / numeric_id 등) 기반 필드 의미 파악 -&gt; 도메인에 맞는 케이스 자동 생성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TC 판정 로직 &amp; AI 레이어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22960"/>
            <a:ext cx="8010144" cy="310896"/>
          </a:xfrm>
          <a:prstGeom prst="rect">
            <a:avLst/>
          </a:prstGeom>
          <a:solidFill>
            <a:srgbClr val="FDF5F7"/>
          </a:solidFill>
          <a:ln w="12700">
            <a:solidFill>
              <a:srgbClr val="E8D5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859536"/>
            <a:ext cx="7644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P/F 판정 기준: HTTP status code + success 값만 사용  |  error_code 는 판정 제외 (diag 기록 / Excel Failure Cause 분류에만 활용)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1225296"/>
            <a:ext cx="3977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225296"/>
            <a:ext cx="54864" cy="32004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엔드포인트 타입별 assert 함수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1627632"/>
            <a:ext cx="3657600" cy="2743200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673352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Positive — 정상 케이스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1851660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== 200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2029968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6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body['success'] is True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" y="2208276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" y="2386584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Negative — missing/wrong_type/boundary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2564892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in [400, 422]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743200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B3B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body['success'] is False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" y="2921508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" y="3099816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상태 의존 (DB/user 없을 수도 있음)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278124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E0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in [200, 404]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456432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" y="3634740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AllInOneResponse 패턴 전용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2960" y="3813048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B1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status == 200  # 항상 200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3991356"/>
            <a:ext cx="3511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3B1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data['error_code'] == -200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27448" y="1225296"/>
            <a:ext cx="37033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27448" y="1225296"/>
            <a:ext cx="54864" cy="192024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131673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 status code 자동 결정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0328" y="1682496"/>
            <a:ext cx="3401568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17190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03720" y="1719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10328" y="1975104"/>
            <a:ext cx="34015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/ wrong_type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03720" y="20116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(400, 422)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10328" y="2267712"/>
            <a:ext cx="3401568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65192" y="23042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 (state-dep)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03720" y="2304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(200, 404)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10328" y="2560320"/>
            <a:ext cx="340156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2596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AllInOne 경로 그룹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259689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20F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  — 항상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910328" y="2852928"/>
            <a:ext cx="3401568" cy="256032"/>
          </a:xfrm>
          <a:prstGeom prst="rect">
            <a:avLst/>
          </a:prstGeom>
          <a:solidFill>
            <a:srgbClr val="F9F9F9"/>
          </a:solidFill>
          <a:ln w="12700">
            <a:solidFill>
              <a:srgbClr val="EDE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65192" y="288950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raw_image_relation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03720" y="2889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878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(200,)  — nested 검사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0328" y="3163824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_expected_http_statuses_for(ep, rule) 가 Swagger 명세 + semantic_tag + 경로 그룹을 종합해 자동 결정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727448" y="3200400"/>
            <a:ext cx="370332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27448" y="3200400"/>
            <a:ext cx="54864" cy="1225296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32918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보완 레이어 (현재 비활성)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910328" y="3621024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Rule TC 를 컨텍스트로 LLM에 전달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10328" y="3822192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AST 검증 + pytest --collect 수집 확인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910328" y="4023360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DuplicateDetector 로 의미적 중복 제거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910328" y="4224528"/>
            <a:ext cx="3401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Ollama / Claude / Gemini 제공자 지원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CI/CD &amp; Windows SCM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 (CI/CD)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1353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스케줄 실행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1시간 cron 자동 실행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1993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 트리거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/ workflow 변경 시 자동 실행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" y="26334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감지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버전 + Swagger SHA-256 비교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없으면 실행 Skip으로 자원 절약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" y="32735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환경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511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self-hosted Windows Runner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네트워크 QFE 서버 직접 접근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SCM (서비스 관리)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01768" y="13533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서버를 OS 서비스로 등록 (sc.exe)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01768" y="19933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재시작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 실패: restart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 실패: on_service_failure.ps1 실행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01768" y="26334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보존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로그 + Windows Event 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시 타임스탬프 파일로 자동 보존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01768" y="32735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조회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01768" y="35112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PID · Event Log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로그 마지막 N줄 출력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460857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복구: 감지 -&gt; 로그 수집 -&gt; 서버 재기동 -&gt; PASS 케이스 Skip -&gt; 나머지 TC 이어서 실행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어떻게 구현했는지 I Postman &amp; Swagger Collection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테스트용 Postman Collection 활용 — TC 결과물 기반 재검증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61872"/>
            <a:ext cx="1600200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2608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261872"/>
            <a:ext cx="1600200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Postman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9884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93776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261872"/>
            <a:ext cx="1600200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생성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10528" y="15361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BBBB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949440" y="1261872"/>
            <a:ext cx="160020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261872"/>
            <a:ext cx="1600200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146304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결과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재검증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2304288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목적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단위 검증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980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중 특정 엔드포인트를 신속하게 수동 검증할 때 Swagger -&gt; Collection 즉시 활용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결과 재검증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53872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파이프라인이 FAIL 처리한 케이스를 Postman으로 직접 재현하여 원인 파악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4768" y="26974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44768" y="2697480"/>
            <a:ext cx="54864" cy="173736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278892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신뢰도 확인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27648" y="3127248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명세의 정확성을 Collection 실행으로 검증 — 명세와 실제 서버 동작의 갭 탐지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결과물 I Web Dashboard — 테스트 결과 대시보드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http://192.168.150.125:7800/  —  pytest JSON report 기반 실시간 집계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1078992"/>
            <a:ext cx="8010144" cy="475488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1338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AUTOTC  /  테스트 결과 대시보드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collected 244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920240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20240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95.08%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73552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73552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73552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73552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4.92%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26864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Duration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6864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5.3s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626864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duration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80176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Exit Code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80176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980176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non-zero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333488" y="1609344"/>
            <a:ext cx="12618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33488" y="164592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 ID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33488" y="181051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04-28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16:55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333488" y="219456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실행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66928" y="2578608"/>
            <a:ext cx="25146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2578608"/>
            <a:ext cx="54864" cy="190195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26700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Axis별 분류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9808" y="30175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463040" y="3054096"/>
            <a:ext cx="123444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463040" y="3054096"/>
            <a:ext cx="691286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24912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9808" y="345643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63040" y="3493008"/>
            <a:ext cx="123444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63040" y="3493008"/>
            <a:ext cx="395021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24912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9808" y="3895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463040" y="3931920"/>
            <a:ext cx="123444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463040" y="3931920"/>
            <a:ext cx="160477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24912" y="38953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46120" y="2578608"/>
            <a:ext cx="251460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46120" y="2578608"/>
            <a:ext cx="54864" cy="190195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29000" y="26700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Type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429000" y="30175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wrong_type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462272" y="3044952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62272" y="3044952"/>
            <a:ext cx="102412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04688" y="301752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429000" y="34015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input_validation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462272" y="3429000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62272" y="3429000"/>
            <a:ext cx="102412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04688" y="340156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3429000" y="37856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boundary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462272" y="3813048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62272" y="3813048"/>
            <a:ext cx="86026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504688" y="378561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43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429000" y="41696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missing_required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462272" y="4197096"/>
            <a:ext cx="1024128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62272" y="4197096"/>
            <a:ext cx="542788" cy="128016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04688" y="416966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925312" y="2578608"/>
            <a:ext cx="265176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25312" y="2578608"/>
            <a:ext cx="54864" cy="1901952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08192" y="26700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Status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108192" y="30175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547104" y="3054096"/>
            <a:ext cx="164592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547104" y="3054096"/>
            <a:ext cx="1645920" cy="14630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11312" y="30175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112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08192" y="34564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422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547104" y="3493008"/>
            <a:ext cx="164592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547104" y="3493008"/>
            <a:ext cx="1102766" cy="14630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11312" y="345643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108192" y="389534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547104" y="3931920"/>
            <a:ext cx="1645920" cy="14630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547104" y="3931920"/>
            <a:ext cx="839419" cy="1463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11312" y="389534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결과물 I 실패 케이스 상세 분석 &amp; Excel 리포트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41248"/>
            <a:ext cx="39776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841248"/>
            <a:ext cx="54864" cy="36576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엔드포인트 Top 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1225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케이스 상세 필터링 가능 (Axis / Reason / Rule)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5361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/api/v3/faces/analyze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" y="175564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1755648"/>
            <a:ext cx="2121408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37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4/27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203911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/api/v3/faces/detect/raw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" y="225856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2258568"/>
            <a:ext cx="2121408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4/27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54203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/api/v3/templates/match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" y="276148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2761488"/>
            <a:ext cx="1193292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743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2/7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304495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PUT /api/v3/config/max-face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" y="326440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3264408"/>
            <a:ext cx="662940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46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1/11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PUT /api/v3/config/threshold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49808" y="3767328"/>
            <a:ext cx="2651760" cy="128016"/>
          </a:xfrm>
          <a:prstGeom prst="rect">
            <a:avLst/>
          </a:prstGeom>
          <a:solidFill>
            <a:srgbClr val="F0F0F0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3767328"/>
            <a:ext cx="530352" cy="12801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749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1/14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33088"/>
            <a:ext cx="3977640" cy="256032"/>
          </a:xfrm>
          <a:prstGeom prst="rect">
            <a:avLst/>
          </a:prstGeom>
          <a:solidFill>
            <a:srgbClr val="1E2A38"/>
          </a:solidFill>
          <a:ln w="12700">
            <a:solidFill>
              <a:srgbClr val="1E2A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16966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Outcome  |  Endpoint  |  Rule  |  Axis  |  Expected  |  Actual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58368" y="44256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failed  POST /api/v3/faces/analyze  |  input_validation  |  domain  |  200  |  422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27448" y="841248"/>
            <a:ext cx="4069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841248"/>
            <a:ext cx="54864" cy="365760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0328" y="9326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리포트 2종 (자동 생성)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0328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test_report.xlsx  —  개발자용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0328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Summary / API List / TC Table (29컬럼) / Crash Probe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기반 상세 진단 데이터 포함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10328" y="1993392"/>
            <a:ext cx="3749040" cy="1371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0328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test_report2.xlsx  —  QA/비개발자용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10328" y="234086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명세서(한글) / 엔드포인트별 요약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요약(KPI) / 전체 결과 상세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10328" y="2779776"/>
            <a:ext cx="3749040" cy="1371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가독성 개선 과제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10328" y="3127248"/>
            <a:ext cx="37490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로그를 그대로 출력한 수준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셀 색상 강조 / 조건부 서식 / 요약 차트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-&gt; 한눈에 PASS/FAIL 현황 파악 가능하도록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결과물 I 세분화된 실패 분류 체계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41248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Pass/Fail을 넘어 실패 원인을 구조적으로 분류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261872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61872"/>
            <a:ext cx="54864" cy="87782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53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HTTP_STATUS_MISMATCH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1700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상태코드 불일치 — 가장 기본 판정 기준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1261872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1261872"/>
            <a:ext cx="54864" cy="877824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35331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BODY_SCHEMA_MISMATCH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9744" y="1700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success 값 또는 응답 body 구조 불일치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286000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286000"/>
            <a:ext cx="54864" cy="87782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SERVER_CRASH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발생 — 서버 로그 자동 첨부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26864" y="2286000"/>
            <a:ext cx="384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26864" y="2286000"/>
            <a:ext cx="54864" cy="877824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9744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CONNECTION_REFUSED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9744" y="27249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연결 거부 — 서버 미기동 상태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401568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원인 축(Axis) 분류 — Excel 리포트 색상 강조로 표시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749040"/>
            <a:ext cx="1956816" cy="18288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스키마 위반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(타입 오류, 필드 누락)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7004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70048" y="3749040"/>
            <a:ext cx="1956816" cy="18288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domain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1576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로직 오류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(threshold, match)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7316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3749040"/>
            <a:ext cx="1956816" cy="182880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20F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1888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의존 오류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(DB 없음, 미등록 사용자)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76288" y="3749040"/>
            <a:ext cx="1956816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76288" y="3749040"/>
            <a:ext cx="1956816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395020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runtime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41605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크래시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오류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기대 효과 I 개발 생산성의 비약적 향상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822960"/>
            <a:ext cx="2606040" cy="7315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24/7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6692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자동 테스트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5584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55848" y="822960"/>
            <a:ext cx="2606040" cy="7315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878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0원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35584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생성 비용 (Rule 기반)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822960"/>
            <a:ext cx="26060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822960"/>
            <a:ext cx="2606040" cy="73152"/>
          </a:xfrm>
          <a:prstGeom prst="rect">
            <a:avLst/>
          </a:prstGeom>
          <a:solidFill>
            <a:srgbClr val="720F80"/>
          </a:solidFill>
          <a:ln w="12700">
            <a:solidFill>
              <a:srgbClr val="720F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9326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20F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144768" y="1417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유형 자동 커버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187452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1874520"/>
            <a:ext cx="54864" cy="10789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19659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사이클 단축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" y="227685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수동 테스트 대기 시간 제거 — 코드 push 즉시 자동 검증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루프가 짧아져 개발자 생산성이 직접 향상됩니다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91456" y="187452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91456" y="1874520"/>
            <a:ext cx="54864" cy="107899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19659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향상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4336" y="227685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 가능한 TC + 세분화된 실패 분류로 버그 원인 특정 시간 단축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테스트로 기존 기능 보호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" y="310896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108960"/>
            <a:ext cx="54864" cy="107899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2004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명세 기반 품질 관리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35112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변경 즉시 TC 재생성 — 명세와 실제 서버 동작의 괴리를 자동 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문서와 코드의 일치성 보장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3108960"/>
            <a:ext cx="400507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91456" y="3108960"/>
            <a:ext cx="54864" cy="107899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74336" y="32004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팀/회사 ROI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74336" y="35112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인력 없이도 수백 개 TC 자동 실행 — 인적 자원을 핵심 개발에 집중 투입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없이 지속적 품질 유지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I AI Agent 도입으로 정밀도 향상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822960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현재: Rule 기반  -&gt;  목표: Rule + AI Agent 하이브리드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123444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234440"/>
            <a:ext cx="54864" cy="3200400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32588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구조 (Rule 기반)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7373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비용 Zero - AI 토큰 소모 없음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" y="22128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결정론적, 재현 가능한 TC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6883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스키마 레벨 검증 강점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1638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 API 내부 복잡 로직 반영 한계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" y="363931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△  Context-aware edge case 생성 어려움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2560320"/>
            <a:ext cx="475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-&gt;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36592" y="1234440"/>
            <a:ext cx="4059936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1234440"/>
            <a:ext cx="54864" cy="3200400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32588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구조 (Rule + AI Agent)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19472" y="1737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Rule TC 기반 중복 없는 edge case 보완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2212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LLM이 API 맥락 이해한 정밀 TC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68833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Ollama 로컬 모델 - 토큰 비용 최소화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316382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Claude / Gemini 모델 간 효과 비교 평가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36393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 Step 1/2/3 실험 모드로 효과 정량화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4562856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AI 제공자: Ollama (로컬 / 비용 Zero)  |  Claude (Anthropic)  |  Gemini (Google)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QFE AutoTC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566928" y="2212848"/>
            <a:ext cx="832104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340864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70662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 Rule 기반 TC 자동화로 Human Error를 구조적으로 제거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0906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 24/7 자동 실행 + 세분화된 실패 분류로 개발 신뢰성 확보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4747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 AI Agent 보완 설계 완료 - 비용 없이 정밀도를 높일 수 있는 구조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38587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 팀의 핵심 자원을 테스트 반복 작업이 아닌 핵심 개발에 집중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43434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 개발팀  |  박소연  |  sypark5@suprema.co.kr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0292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0" y="1645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suprema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548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&amp; BIOMETRICS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828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129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66928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wagger 감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 II  |  Swagger 변경 감지</a:t>
            </a:r>
            <a:endParaRPr lang="en-US" sz="950" dirty="0"/>
          </a:p>
        </p:txBody>
      </p:sp>
      <p:sp>
        <p:nvSpPr>
          <p:cNvPr id="3" name="Ln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Ft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Fd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Sp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suprema</a:t>
            </a:r>
            <a:endParaRPr lang="en-US" sz="950" dirty="0"/>
          </a:p>
        </p:txBody>
      </p:sp>
      <p:sp>
        <p:nvSpPr>
          <p:cNvPr id="7" name="Cp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950" dirty="0"/>
          </a:p>
        </p:txBody>
      </p:sp>
      <p:sp>
        <p:nvSpPr>
          <p:cNvPr id="8" name="LC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LA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LH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해시 비교</a:t>
            </a:r>
            <a:endParaRPr lang="en-US" sz="950" dirty="0"/>
          </a:p>
        </p:txBody>
      </p:sp>
      <p:sp>
        <p:nvSpPr>
          <p:cNvPr id="11" name="LL0"/>
          <p:cNvSpPr/>
          <p:nvPr/>
        </p:nvSpPr>
        <p:spPr>
          <a:xfrm>
            <a:off x="74980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방식</a:t>
            </a:r>
            <a:endParaRPr lang="en-US" sz="950" dirty="0"/>
          </a:p>
        </p:txBody>
      </p:sp>
      <p:sp>
        <p:nvSpPr>
          <p:cNvPr id="12" name="LV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swagger.json SHA-256 계산 → 캐시 해시와 비교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/version 엔드포인트 버전 비교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값이 같으면 파이프라인 전체 Skip</a:t>
            </a:r>
            <a:endParaRPr lang="en-US" sz="950" dirty="0"/>
          </a:p>
        </p:txBody>
      </p:sp>
      <p:sp>
        <p:nvSpPr>
          <p:cNvPr id="13" name="LL1"/>
          <p:cNvSpPr/>
          <p:nvPr/>
        </p:nvSpPr>
        <p:spPr>
          <a:xfrm>
            <a:off x="74980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Push 트리거</a:t>
            </a:r>
            <a:endParaRPr lang="en-US" sz="950" dirty="0"/>
          </a:p>
        </p:txBody>
      </p:sp>
      <p:sp>
        <p:nvSpPr>
          <p:cNvPr id="14" name="LV1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paths: ['swagger.json', '**.yml'] 변경 시 즉시 실행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1시간 스케줄 실행과 독립적으로 동작</a:t>
            </a:r>
            <a:endParaRPr lang="en-US" sz="950" dirty="0"/>
          </a:p>
        </p:txBody>
      </p:sp>
      <p:sp>
        <p:nvSpPr>
          <p:cNvPr id="15" name="LL2"/>
          <p:cNvSpPr/>
          <p:nvPr/>
        </p:nvSpPr>
        <p:spPr>
          <a:xfrm>
            <a:off x="74980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이점</a:t>
            </a:r>
            <a:endParaRPr lang="en-US" sz="950" dirty="0"/>
          </a:p>
        </p:txBody>
      </p:sp>
      <p:sp>
        <p:nvSpPr>
          <p:cNvPr id="16" name="LV2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불필요한 TC 재생성 방지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시만 Parser -&gt; Enricher -&gt; Rule Gen 실행</a:t>
            </a:r>
            <a:endParaRPr lang="en-US" sz="950" dirty="0"/>
          </a:p>
        </p:txBody>
      </p:sp>
      <p:sp>
        <p:nvSpPr>
          <p:cNvPr id="17" name="RC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RA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RH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흐름 (GitHub Actions)</a:t>
            </a:r>
            <a:endParaRPr lang="en-US" sz="950" dirty="0"/>
          </a:p>
        </p:txBody>
      </p:sp>
      <p:sp>
        <p:nvSpPr>
          <p:cNvPr id="20" name="RL0"/>
          <p:cNvSpPr/>
          <p:nvPr/>
        </p:nvSpPr>
        <p:spPr>
          <a:xfrm>
            <a:off x="500176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 해시 추출</a:t>
            </a:r>
            <a:endParaRPr lang="en-US" sz="950" dirty="0"/>
          </a:p>
        </p:txBody>
      </p:sp>
      <p:sp>
        <p:nvSpPr>
          <p:cNvPr id="21" name="RV0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curl http://localhost/api/v3/swagger.json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sha256sum 으로 현재 해시 계산 후 파일 저장</a:t>
            </a:r>
            <a:endParaRPr lang="en-US" sz="950" dirty="0"/>
          </a:p>
        </p:txBody>
      </p:sp>
      <p:sp>
        <p:nvSpPr>
          <p:cNvPr id="22" name="RL1"/>
          <p:cNvSpPr/>
          <p:nvPr/>
        </p:nvSpPr>
        <p:spPr>
          <a:xfrm>
            <a:off x="500176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 캐시 비교</a:t>
            </a:r>
            <a:endParaRPr lang="en-US" sz="950" dirty="0"/>
          </a:p>
        </p:txBody>
      </p:sp>
      <p:sp>
        <p:nvSpPr>
          <p:cNvPr id="23" name="RV1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실행 해시와 비교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skip=true 이면 나머지 job 전체 Skip</a:t>
            </a:r>
            <a:endParaRPr lang="en-US" sz="950" dirty="0"/>
          </a:p>
        </p:txBody>
      </p:sp>
      <p:sp>
        <p:nvSpPr>
          <p:cNvPr id="24" name="RL2"/>
          <p:cNvSpPr/>
          <p:nvPr/>
        </p:nvSpPr>
        <p:spPr>
          <a:xfrm>
            <a:off x="500176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  조건 실행</a:t>
            </a:r>
            <a:endParaRPr lang="en-US" sz="950" dirty="0"/>
          </a:p>
        </p:txBody>
      </p:sp>
      <p:sp>
        <p:nvSpPr>
          <p:cNvPr id="25" name="RV2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if: steps.check.outputs.skip != 'true'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있을 때만 파이프라인 계속 실행</a:t>
            </a:r>
            <a:endParaRPr lang="en-US" sz="950" dirty="0"/>
          </a:p>
        </p:txBody>
      </p:sp>
      <p:sp>
        <p:nvSpPr>
          <p:cNvPr id="26" name="NB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NT"/>
          <p:cNvSpPr/>
          <p:nvPr/>
        </p:nvSpPr>
        <p:spPr>
          <a:xfrm>
            <a:off x="749808" y="4599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SHA-256 비교로 내용이 바뀐 경우만 파이프라인 실행 → TC 재생성 비용 최소화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I Pars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 III  |  API Parser</a:t>
            </a:r>
            <a:endParaRPr lang="en-US" sz="950" dirty="0"/>
          </a:p>
        </p:txBody>
      </p:sp>
      <p:sp>
        <p:nvSpPr>
          <p:cNvPr id="3" name="Ln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Ft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Fd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Sp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suprema</a:t>
            </a:r>
            <a:endParaRPr lang="en-US" sz="950" dirty="0"/>
          </a:p>
        </p:txBody>
      </p:sp>
      <p:sp>
        <p:nvSpPr>
          <p:cNvPr id="7" name="Cp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950" dirty="0"/>
          </a:p>
        </p:txBody>
      </p:sp>
      <p:sp>
        <p:nvSpPr>
          <p:cNvPr id="8" name="LC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LA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LH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2.0 파싱</a:t>
            </a:r>
            <a:endParaRPr lang="en-US" sz="950" dirty="0"/>
          </a:p>
        </p:txBody>
      </p:sp>
      <p:sp>
        <p:nvSpPr>
          <p:cNvPr id="11" name="LL0"/>
          <p:cNvSpPr/>
          <p:nvPr/>
        </p:nvSpPr>
        <p:spPr>
          <a:xfrm>
            <a:off x="74980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엔드포인트 추출</a:t>
            </a:r>
            <a:endParaRPr lang="en-US" sz="950" dirty="0"/>
          </a:p>
        </p:txBody>
      </p:sp>
      <p:sp>
        <p:nvSpPr>
          <p:cNvPr id="12" name="LV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paths 딕셔너리 전체 동적 순회 (hardcode 없음)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API 추가 시 코드 수정 없이 자동 인식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basePath + path 중복 경로 처리 포함</a:t>
            </a:r>
            <a:endParaRPr lang="en-US" sz="950" dirty="0"/>
          </a:p>
        </p:txBody>
      </p:sp>
      <p:sp>
        <p:nvSpPr>
          <p:cNvPr id="13" name="LL1"/>
          <p:cNvSpPr/>
          <p:nvPr/>
        </p:nvSpPr>
        <p:spPr>
          <a:xfrm>
            <a:off x="74980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파라미터 분류</a:t>
            </a:r>
            <a:endParaRPr lang="en-US" sz="950" dirty="0"/>
          </a:p>
        </p:txBody>
      </p:sp>
      <p:sp>
        <p:nvSpPr>
          <p:cNvPr id="14" name="LV1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query / body / path 3가지 위치 분류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required 여부, type, format 자동 추출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enum 허용값 목록 및 min / max 수집</a:t>
            </a:r>
            <a:endParaRPr lang="en-US" sz="950" dirty="0"/>
          </a:p>
        </p:txBody>
      </p:sp>
      <p:sp>
        <p:nvSpPr>
          <p:cNvPr id="15" name="LL2"/>
          <p:cNvSpPr/>
          <p:nvPr/>
        </p:nvSpPr>
        <p:spPr>
          <a:xfrm>
            <a:off x="74980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구조</a:t>
            </a:r>
            <a:endParaRPr lang="en-US" sz="950" dirty="0"/>
          </a:p>
        </p:txBody>
      </p:sp>
      <p:sp>
        <p:nvSpPr>
          <p:cNvPr id="16" name="LV2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endpoints[] 리스트로 직렬화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method, path, params, error_codes 포함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 Enricher 입력으로 직접 전달</a:t>
            </a:r>
            <a:endParaRPr lang="en-US" sz="950" dirty="0"/>
          </a:p>
        </p:txBody>
      </p:sp>
      <p:sp>
        <p:nvSpPr>
          <p:cNvPr id="17" name="RC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RA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RH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코드 파싱</a:t>
            </a:r>
            <a:endParaRPr lang="en-US" sz="950" dirty="0"/>
          </a:p>
        </p:txBody>
      </p:sp>
      <p:sp>
        <p:nvSpPr>
          <p:cNvPr id="20" name="RL0"/>
          <p:cNvSpPr/>
          <p:nvPr/>
        </p:nvSpPr>
        <p:spPr>
          <a:xfrm>
            <a:off x="500176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Description 파싱</a:t>
            </a:r>
            <a:endParaRPr lang="en-US" sz="950" dirty="0"/>
          </a:p>
        </p:txBody>
      </p:sp>
      <p:sp>
        <p:nvSpPr>
          <p:cNvPr id="21" name="RV0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description 에서 에러 코드 정규식 추출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-90 (INVALID_PARAMETER), -200 (FAILED_FACE_DETECT) 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생성 시 expected_error_codes 에 자동 주입</a:t>
            </a:r>
            <a:endParaRPr lang="en-US" sz="950" dirty="0"/>
          </a:p>
        </p:txBody>
      </p:sp>
      <p:sp>
        <p:nvSpPr>
          <p:cNvPr id="22" name="RL1"/>
          <p:cNvSpPr/>
          <p:nvPr/>
        </p:nvSpPr>
        <p:spPr>
          <a:xfrm>
            <a:off x="500176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에러 코드 예시</a:t>
            </a:r>
            <a:endParaRPr lang="en-US" sz="950" dirty="0"/>
          </a:p>
        </p:txBody>
      </p:sp>
      <p:sp>
        <p:nvSpPr>
          <p:cNvPr id="23" name="RV1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-90: INVALID_PARAMETER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-200: FAILED_FACE_DETECT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-300: NO_FACE  /  -400: MULTIPLE_FACE</a:t>
            </a:r>
            <a:endParaRPr lang="en-US" sz="950" dirty="0"/>
          </a:p>
        </p:txBody>
      </p:sp>
      <p:sp>
        <p:nvSpPr>
          <p:cNvPr id="24" name="RL2"/>
          <p:cNvSpPr/>
          <p:nvPr/>
        </p:nvSpPr>
        <p:spPr>
          <a:xfrm>
            <a:off x="500176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</a:t>
            </a:r>
            <a:endParaRPr lang="en-US" sz="950" dirty="0"/>
          </a:p>
        </p:txBody>
      </p:sp>
      <p:sp>
        <p:nvSpPr>
          <p:cNvPr id="25" name="RV2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Swagger spec 업데이트만으로 에러 코드 반영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api_parser.py 코드 수정 불필요</a:t>
            </a:r>
            <a:endParaRPr lang="en-US" sz="950" dirty="0"/>
          </a:p>
        </p:txBody>
      </p:sp>
      <p:sp>
        <p:nvSpPr>
          <p:cNvPr id="26" name="NB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NT"/>
          <p:cNvSpPr/>
          <p:nvPr/>
        </p:nvSpPr>
        <p:spPr>
          <a:xfrm>
            <a:off x="749808" y="4599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api_parser.py — Swagger spec 기반 완전 자동 파싱, 신규 엔드포인트 추가 시 코드 수정 불필요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hema Enrich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 IV  |  Schema Enricher</a:t>
            </a:r>
            <a:endParaRPr lang="en-US" sz="950" dirty="0"/>
          </a:p>
        </p:txBody>
      </p:sp>
      <p:sp>
        <p:nvSpPr>
          <p:cNvPr id="3" name="Ln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Ft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Fd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Sp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suprema</a:t>
            </a:r>
            <a:endParaRPr lang="en-US" sz="950" dirty="0"/>
          </a:p>
        </p:txBody>
      </p:sp>
      <p:sp>
        <p:nvSpPr>
          <p:cNvPr id="7" name="Cp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950" dirty="0"/>
          </a:p>
        </p:txBody>
      </p:sp>
      <p:sp>
        <p:nvSpPr>
          <p:cNvPr id="8" name="LC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LA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LH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 Tagging (11개 활성 태그)</a:t>
            </a:r>
            <a:endParaRPr lang="en-US" sz="950" dirty="0"/>
          </a:p>
        </p:txBody>
      </p:sp>
      <p:sp>
        <p:nvSpPr>
          <p:cNvPr id="11" name="LL0"/>
          <p:cNvSpPr/>
          <p:nvPr/>
        </p:nvSpPr>
        <p:spPr>
          <a:xfrm>
            <a:off x="74980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목록</a:t>
            </a:r>
            <a:endParaRPr lang="en-US" sz="950" dirty="0"/>
          </a:p>
        </p:txBody>
      </p:sp>
      <p:sp>
        <p:nvSpPr>
          <p:cNvPr id="12" name="LV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plain_string  /  identifier  /  base64_image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base64_template  /  threshold_numeric  /  enum_mode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config_json  /  path_user_id  /  channel_count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boolean_flag  /  numeric_id</a:t>
            </a:r>
            <a:endParaRPr lang="en-US" sz="950" dirty="0"/>
          </a:p>
        </p:txBody>
      </p:sp>
      <p:sp>
        <p:nvSpPr>
          <p:cNvPr id="13" name="LL1"/>
          <p:cNvSpPr/>
          <p:nvPr/>
        </p:nvSpPr>
        <p:spPr>
          <a:xfrm>
            <a:off x="74980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 판단 기준</a:t>
            </a:r>
            <a:endParaRPr lang="en-US" sz="950" dirty="0"/>
          </a:p>
        </p:txBody>
      </p:sp>
      <p:sp>
        <p:nvSpPr>
          <p:cNvPr id="14" name="LV1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format: byte/binary -&gt; base64 계열 태그 부여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필드명 패턴 (template, image, face 등)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description 키워드 매칭으로 의미 추론</a:t>
            </a:r>
            <a:endParaRPr lang="en-US" sz="950" dirty="0"/>
          </a:p>
        </p:txBody>
      </p:sp>
      <p:sp>
        <p:nvSpPr>
          <p:cNvPr id="15" name="LL2"/>
          <p:cNvSpPr/>
          <p:nvPr/>
        </p:nvSpPr>
        <p:spPr>
          <a:xfrm>
            <a:off x="74980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endParaRPr lang="en-US" sz="950" dirty="0"/>
          </a:p>
        </p:txBody>
      </p:sp>
      <p:sp>
        <p:nvSpPr>
          <p:cNvPr id="16" name="LV2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Generator 가 태그 기반으로 TC 규칙 선택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input_validation: base64 태그 필드에만 적용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raw_image_relation: template 태그 조합 검증</a:t>
            </a:r>
            <a:endParaRPr lang="en-US" sz="950" dirty="0"/>
          </a:p>
        </p:txBody>
      </p:sp>
      <p:sp>
        <p:nvSpPr>
          <p:cNvPr id="17" name="RC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RA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RH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 &amp; 버전 관리</a:t>
            </a:r>
            <a:endParaRPr lang="en-US" sz="950" dirty="0"/>
          </a:p>
        </p:txBody>
      </p:sp>
      <p:sp>
        <p:nvSpPr>
          <p:cNvPr id="20" name="RL0"/>
          <p:cNvSpPr/>
          <p:nvPr/>
        </p:nvSpPr>
        <p:spPr>
          <a:xfrm>
            <a:off x="500176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 저장</a:t>
            </a:r>
            <a:endParaRPr lang="en-US" sz="950" dirty="0"/>
          </a:p>
        </p:txBody>
      </p:sp>
      <p:sp>
        <p:nvSpPr>
          <p:cNvPr id="21" name="RV0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.cache/semantic_tags.json 에 결과 저장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spec 이면 재사용 -&gt; 실행 시간 단축</a:t>
            </a:r>
            <a:endParaRPr lang="en-US" sz="950" dirty="0"/>
          </a:p>
        </p:txBody>
      </p:sp>
      <p:sp>
        <p:nvSpPr>
          <p:cNvPr id="22" name="RL1"/>
          <p:cNvSpPr/>
          <p:nvPr/>
        </p:nvSpPr>
        <p:spPr>
          <a:xfrm>
            <a:off x="500176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</a:t>
            </a:r>
            <a:endParaRPr lang="en-US" sz="950" dirty="0"/>
          </a:p>
        </p:txBody>
      </p:sp>
      <p:sp>
        <p:nvSpPr>
          <p:cNvPr id="23" name="RV1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SEMANTIC_SCHEMA_VERSION = "qfe_semantic_v2"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불일치 시 캐시 무효화 후 자동 재생성</a:t>
            </a:r>
            <a:endParaRPr lang="en-US" sz="950" dirty="0"/>
          </a:p>
        </p:txBody>
      </p:sp>
      <p:sp>
        <p:nvSpPr>
          <p:cNvPr id="24" name="RL2"/>
          <p:cNvSpPr/>
          <p:nvPr/>
        </p:nvSpPr>
        <p:spPr>
          <a:xfrm>
            <a:off x="500176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예시</a:t>
            </a:r>
            <a:endParaRPr lang="en-US" sz="950" dirty="0"/>
          </a:p>
        </p:txBody>
      </p:sp>
      <p:sp>
        <p:nvSpPr>
          <p:cNvPr id="25" name="RV2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template1: base64_template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threshold: threshold_numeric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mode: enum_mode</a:t>
            </a:r>
            <a:endParaRPr lang="en-US" sz="950" dirty="0"/>
          </a:p>
        </p:txBody>
      </p:sp>
      <p:sp>
        <p:nvSpPr>
          <p:cNvPr id="26" name="NB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NT"/>
          <p:cNvSpPr/>
          <p:nvPr/>
        </p:nvSpPr>
        <p:spPr>
          <a:xfrm>
            <a:off x="749808" y="4599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Schema Enricher -&gt; Rule Generator 에게 필드별 의미 태그 전달 -&gt; 적절한 TC 규칙 자동 선택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le Generat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 V  |  Rule Generator</a:t>
            </a:r>
            <a:endParaRPr lang="en-US" sz="950" dirty="0"/>
          </a:p>
        </p:txBody>
      </p:sp>
      <p:sp>
        <p:nvSpPr>
          <p:cNvPr id="3" name="Ln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Ft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Fd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Sp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suprema</a:t>
            </a:r>
            <a:endParaRPr lang="en-US" sz="950" dirty="0"/>
          </a:p>
        </p:txBody>
      </p:sp>
      <p:sp>
        <p:nvSpPr>
          <p:cNvPr id="7" name="Cp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950" dirty="0"/>
          </a:p>
        </p:txBody>
      </p:sp>
      <p:sp>
        <p:nvSpPr>
          <p:cNvPr id="8" name="LC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LA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LH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6가지 TC 생성 규칙</a:t>
            </a:r>
            <a:endParaRPr lang="en-US" sz="950" dirty="0"/>
          </a:p>
        </p:txBody>
      </p:sp>
      <p:sp>
        <p:nvSpPr>
          <p:cNvPr id="11" name="LL0"/>
          <p:cNvSpPr/>
          <p:nvPr/>
        </p:nvSpPr>
        <p:spPr>
          <a:xfrm>
            <a:off x="74980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Positive / Missing Required</a:t>
            </a:r>
            <a:endParaRPr lang="en-US" sz="950" dirty="0"/>
          </a:p>
        </p:txBody>
      </p:sp>
      <p:sp>
        <p:nvSpPr>
          <p:cNvPr id="12" name="LV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positive — 정상 요청, HTTP 200 기대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missing_required — 필수 필드 제거, 400 기대</a:t>
            </a:r>
            <a:endParaRPr lang="en-US" sz="950" dirty="0"/>
          </a:p>
        </p:txBody>
      </p:sp>
      <p:sp>
        <p:nvSpPr>
          <p:cNvPr id="13" name="LL1"/>
          <p:cNvSpPr/>
          <p:nvPr/>
        </p:nvSpPr>
        <p:spPr>
          <a:xfrm>
            <a:off x="74980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Wrong Type / Boundary</a:t>
            </a:r>
            <a:endParaRPr lang="en-US" sz="950" dirty="0"/>
          </a:p>
        </p:txBody>
      </p:sp>
      <p:sp>
        <p:nvSpPr>
          <p:cNvPr id="14" name="LV1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wrong_type — 잘못된 타입 주입 (400/422)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boundary — min/max 경계값 테스트</a:t>
            </a:r>
            <a:endParaRPr lang="en-US" sz="950" dirty="0"/>
          </a:p>
        </p:txBody>
      </p:sp>
      <p:sp>
        <p:nvSpPr>
          <p:cNvPr id="15" name="LL2"/>
          <p:cNvSpPr/>
          <p:nvPr/>
        </p:nvSpPr>
        <p:spPr>
          <a:xfrm>
            <a:off x="74980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Validation / Relation</a:t>
            </a:r>
            <a:endParaRPr lang="en-US" sz="950" dirty="0"/>
          </a:p>
        </p:txBody>
      </p:sp>
      <p:sp>
        <p:nvSpPr>
          <p:cNvPr id="16" name="LV2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input_validation — base64 invalid/empty, 400 기대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raw_image_relation — template 간 조합 검증</a:t>
            </a:r>
            <a:endParaRPr lang="en-US" sz="950" dirty="0"/>
          </a:p>
        </p:txBody>
      </p:sp>
      <p:sp>
        <p:nvSpPr>
          <p:cNvPr id="17" name="RC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RA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RH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메타데이터 구조 (tc_meta)</a:t>
            </a:r>
            <a:endParaRPr lang="en-US" sz="950" dirty="0"/>
          </a:p>
        </p:txBody>
      </p:sp>
      <p:sp>
        <p:nvSpPr>
          <p:cNvPr id="20" name="RL0"/>
          <p:cNvSpPr/>
          <p:nvPr/>
        </p:nvSpPr>
        <p:spPr>
          <a:xfrm>
            <a:off x="500176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 구성</a:t>
            </a:r>
            <a:endParaRPr lang="en-US" sz="950" dirty="0"/>
          </a:p>
        </p:txBody>
      </p:sp>
      <p:sp>
        <p:nvSpPr>
          <p:cNvPr id="21" name="RV0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rule_type, policy (must_pass / must_fail)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expected_http, expected_error_codes [-90, -1 ...]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target_param, condition (생성 근거 기록)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axis (endpoint 분류 key)</a:t>
            </a:r>
            <a:endParaRPr lang="en-US" sz="950" dirty="0"/>
          </a:p>
        </p:txBody>
      </p:sp>
      <p:sp>
        <p:nvSpPr>
          <p:cNvPr id="22" name="RL1"/>
          <p:cNvSpPr/>
          <p:nvPr/>
        </p:nvSpPr>
        <p:spPr>
          <a:xfrm>
            <a:off x="500176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저장</a:t>
            </a:r>
            <a:endParaRPr lang="en-US" sz="950" dirty="0"/>
          </a:p>
        </p:txBody>
      </p:sp>
      <p:sp>
        <p:nvSpPr>
          <p:cNvPr id="23" name="RV1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tests/generated/rule/test_&lt;endpoint&gt;.py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endpoint 당 1개 파일, 여러 TC 함수 포함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user_properties 로 tc_meta 주입</a:t>
            </a:r>
            <a:endParaRPr lang="en-US" sz="950" dirty="0"/>
          </a:p>
        </p:txBody>
      </p:sp>
      <p:sp>
        <p:nvSpPr>
          <p:cNvPr id="24" name="RL2"/>
          <p:cNvSpPr/>
          <p:nvPr/>
        </p:nvSpPr>
        <p:spPr>
          <a:xfrm>
            <a:off x="500176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</a:t>
            </a:r>
            <a:endParaRPr lang="en-US" sz="950" dirty="0"/>
          </a:p>
        </p:txBody>
      </p:sp>
      <p:sp>
        <p:nvSpPr>
          <p:cNvPr id="25" name="RV2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Swagger spec -&gt; 항상 동일 TC 생성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Rule-based TC 는 deterministic (AI 개입 없음)</a:t>
            </a:r>
            <a:endParaRPr lang="en-US" sz="950" dirty="0"/>
          </a:p>
        </p:txBody>
      </p:sp>
      <p:sp>
        <p:nvSpPr>
          <p:cNvPr id="26" name="NB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NT"/>
          <p:cNvSpPr/>
          <p:nvPr/>
        </p:nvSpPr>
        <p:spPr>
          <a:xfrm>
            <a:off x="749808" y="4599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6가지 규칙은 독립 실행 — 규칙 추가/제거 시 해당 TC 만 영향, 나머지 규칙 TC 는 변경 없음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C Runn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 VI  |  TC 저장 + Test Runner</a:t>
            </a:r>
            <a:endParaRPr lang="en-US" sz="950" dirty="0"/>
          </a:p>
        </p:txBody>
      </p:sp>
      <p:sp>
        <p:nvSpPr>
          <p:cNvPr id="3" name="Ln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Ft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Fd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Sp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suprema</a:t>
            </a:r>
            <a:endParaRPr lang="en-US" sz="950" dirty="0"/>
          </a:p>
        </p:txBody>
      </p:sp>
      <p:sp>
        <p:nvSpPr>
          <p:cNvPr id="7" name="Cp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950" dirty="0"/>
          </a:p>
        </p:txBody>
      </p:sp>
      <p:sp>
        <p:nvSpPr>
          <p:cNvPr id="8" name="LC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LA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LH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구조 예시</a:t>
            </a:r>
            <a:endParaRPr lang="en-US" sz="950" dirty="0"/>
          </a:p>
        </p:txBody>
      </p:sp>
      <p:sp>
        <p:nvSpPr>
          <p:cNvPr id="11" name="LL0"/>
          <p:cNvSpPr/>
          <p:nvPr/>
        </p:nvSpPr>
        <p:spPr>
          <a:xfrm>
            <a:off x="74980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경로</a:t>
            </a:r>
            <a:endParaRPr lang="en-US" sz="950" dirty="0"/>
          </a:p>
        </p:txBody>
      </p:sp>
      <p:sp>
        <p:nvSpPr>
          <p:cNvPr id="12" name="LV0"/>
          <p:cNvSpPr/>
          <p:nvPr/>
        </p:nvSpPr>
        <p:spPr>
          <a:xfrm>
            <a:off x="749808" y="1591056"/>
            <a:ext cx="36576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tests/generated/rule/test_post__api_v3_templates_match.py</a:t>
            </a:r>
            <a:endParaRPr lang="en-US" sz="950" dirty="0"/>
          </a:p>
        </p:txBody>
      </p:sp>
      <p:sp>
        <p:nvSpPr>
          <p:cNvPr id="13" name="LL1"/>
          <p:cNvSpPr/>
          <p:nvPr/>
        </p:nvSpPr>
        <p:spPr>
          <a:xfrm>
            <a:off x="749808" y="1840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missing_required TC 함수 (요약)</a:t>
            </a:r>
            <a:endParaRPr lang="en-US" sz="950" dirty="0"/>
          </a:p>
        </p:txBody>
      </p:sp>
      <p:sp>
        <p:nvSpPr>
          <p:cNvPr id="99" name="CBg"/>
          <p:cNvSpPr/>
          <p:nvPr/>
        </p:nvSpPr>
        <p:spPr>
          <a:xfrm>
            <a:off x="749808" y="2080000"/>
            <a:ext cx="3530000" cy="22800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0" name="CText"/>
          <p:cNvSpPr/>
          <p:nvPr/>
        </p:nvSpPr>
        <p:spPr>
          <a:xfrm>
            <a:off x="749808" y="2080000"/>
            <a:ext cx="3530000" cy="2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45720" bIns="45720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test_post__api_v3_templates_match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_missing_body_template1(base_url, request):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# [rule:missing_required]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# Omit required body field 'template1'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request_body = {'template2': 'AAEC'}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request.node.user_properties.append(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('tc_meta', {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    'rule_type': 'missing_required',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    'policy':    'must_fail',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    'expected_http':  '400',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    'expected_error_codes': [-90, -1],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}))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resp = requests.post(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f'{base_url}/api/v3/templates/match',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    json=request_body, timeout=10)</a:t>
            </a:r>
            <a:endParaRPr lang="en-US" sz="670" dirty="0"/>
          </a:p>
          <a:p>
            <a:pPr indent="0" marL="0">
              <a:buNone/>
            </a:pP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assert resp.status_code in [400]</a:t>
            </a:r>
            <a:endParaRPr lang="en-US" sz="670" dirty="0"/>
          </a:p>
          <a:p>
            <a:pPr indent="0" marL="0">
              <a:buNone/>
            </a:pPr>
            <a:r>
              <a:rPr lang="en-US" sz="670" dirty="0">
                <a:solidFill>
                  <a:srgbClr val="D4D4D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   assert body.get('success') is False</a:t>
            </a:r>
            <a:endParaRPr lang="en-US" sz="670" dirty="0"/>
          </a:p>
        </p:txBody>
      </p:sp>
      <p:sp>
        <p:nvSpPr>
          <p:cNvPr id="16" name="RC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7" name="RA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8" name="RH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Runner</a:t>
            </a:r>
            <a:endParaRPr lang="en-US" sz="950" dirty="0"/>
          </a:p>
        </p:txBody>
      </p:sp>
      <p:sp>
        <p:nvSpPr>
          <p:cNvPr id="19" name="RL0"/>
          <p:cNvSpPr/>
          <p:nvPr/>
        </p:nvSpPr>
        <p:spPr>
          <a:xfrm>
            <a:off x="500176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실행</a:t>
            </a:r>
            <a:endParaRPr lang="en-US" sz="950" dirty="0"/>
          </a:p>
        </p:txBody>
      </p:sp>
      <p:sp>
        <p:nvSpPr>
          <p:cNvPr id="20" name="RV0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pytest --json-report --json-report-file=report.json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-v --tb=short  |  TC당 timeout: 10s</a:t>
            </a:r>
            <a:endParaRPr lang="en-US" sz="950" dirty="0"/>
          </a:p>
        </p:txBody>
      </p:sp>
      <p:sp>
        <p:nvSpPr>
          <p:cNvPr id="21" name="RL1"/>
          <p:cNvSpPr/>
          <p:nvPr/>
        </p:nvSpPr>
        <p:spPr>
          <a:xfrm>
            <a:off x="500176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원인 분류</a:t>
            </a:r>
            <a:endParaRPr lang="en-US" sz="950" dirty="0"/>
          </a:p>
        </p:txBody>
      </p:sp>
      <p:sp>
        <p:nvSpPr>
          <p:cNvPr id="22" name="RV1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failure (400 응답 불일치)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missing DB data / DB lookup failure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internal server error / response mismatch</a:t>
            </a:r>
            <a:endParaRPr lang="en-US" sz="950" dirty="0"/>
          </a:p>
        </p:txBody>
      </p:sp>
      <p:sp>
        <p:nvSpPr>
          <p:cNvPr id="23" name="RL2"/>
          <p:cNvSpPr/>
          <p:nvPr/>
        </p:nvSpPr>
        <p:spPr>
          <a:xfrm>
            <a:off x="500176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후 재실행</a:t>
            </a:r>
            <a:endParaRPr lang="en-US" sz="950" dirty="0"/>
          </a:p>
        </p:txBody>
      </p:sp>
      <p:sp>
        <p:nvSpPr>
          <p:cNvPr id="24" name="RV2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 케이스 자동 Skip 후 실패 케이스만 재실행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crash 후 이어서 실행 → 중복 방지</a:t>
            </a:r>
            <a:endParaRPr lang="en-US" sz="950" dirty="0"/>
          </a:p>
        </p:txBody>
      </p:sp>
      <p:sp>
        <p:nvSpPr>
          <p:cNvPr id="25" name="NB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6" name="NT"/>
          <p:cNvSpPr/>
          <p:nvPr/>
        </p:nvSpPr>
        <p:spPr>
          <a:xfrm>
            <a:off x="749808" y="4599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 함수 1개 = endpoint x rule 1:1 매핑 — tc_meta로 원인 추적, pytest JSON 리포트 자동 생성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크래시 감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/>
          <p:nvPr/>
        </p:nvSpPr>
        <p:spPr>
          <a:xfrm>
            <a:off x="566928" y="201168"/>
            <a:ext cx="8010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어떻게 구현했는지 VII  |  크래시 감지</a:t>
            </a:r>
            <a:endParaRPr lang="en-US" sz="950" dirty="0"/>
          </a:p>
        </p:txBody>
      </p:sp>
      <p:sp>
        <p:nvSpPr>
          <p:cNvPr id="3" name="Ln"/>
          <p:cNvSpPr/>
          <p:nvPr/>
        </p:nvSpPr>
        <p:spPr>
          <a:xfrm>
            <a:off x="0" y="713232"/>
            <a:ext cx="9144000" cy="20117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4" name="Ft"/>
          <p:cNvSpPr/>
          <p:nvPr/>
        </p:nvSpPr>
        <p:spPr>
          <a:xfrm>
            <a:off x="0" y="4878324"/>
            <a:ext cx="9144000" cy="265176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5" name="Fd"/>
          <p:cNvSpPr/>
          <p:nvPr/>
        </p:nvSpPr>
        <p:spPr>
          <a:xfrm>
            <a:off x="566928" y="4608576"/>
            <a:ext cx="8010144" cy="13716"/>
          </a:xfrm>
          <a:prstGeom prst="rect">
            <a:avLst/>
          </a:prstGeom>
          <a:solidFill>
            <a:srgbClr val="D8D8D8"/>
          </a:solidFill>
          <a:ln w="12700">
            <a:solidFill>
              <a:srgbClr val="D8D8D8"/>
            </a:solidFill>
            <a:prstDash val="solid"/>
          </a:ln>
        </p:spPr>
      </p:sp>
      <p:sp>
        <p:nvSpPr>
          <p:cNvPr id="6" name="Sp"/>
          <p:cNvSpPr/>
          <p:nvPr/>
        </p:nvSpPr>
        <p:spPr>
          <a:xfrm>
            <a:off x="566928" y="46314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suprema</a:t>
            </a:r>
            <a:endParaRPr lang="en-US" sz="950" dirty="0"/>
          </a:p>
        </p:txBody>
      </p:sp>
      <p:sp>
        <p:nvSpPr>
          <p:cNvPr id="7" name="Cp"/>
          <p:cNvSpPr/>
          <p:nvPr/>
        </p:nvSpPr>
        <p:spPr>
          <a:xfrm>
            <a:off x="2011680" y="4636008"/>
            <a:ext cx="6565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© Suprema Inc. All rights reserved.</a:t>
            </a:r>
            <a:endParaRPr lang="en-US" sz="950" dirty="0"/>
          </a:p>
        </p:txBody>
      </p:sp>
      <p:sp>
        <p:nvSpPr>
          <p:cNvPr id="8" name="LC"/>
          <p:cNvSpPr/>
          <p:nvPr/>
        </p:nvSpPr>
        <p:spPr>
          <a:xfrm>
            <a:off x="56692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9" name="LA"/>
          <p:cNvSpPr/>
          <p:nvPr/>
        </p:nvSpPr>
        <p:spPr>
          <a:xfrm>
            <a:off x="566928" y="841248"/>
            <a:ext cx="54864" cy="3639312"/>
          </a:xfrm>
          <a:prstGeom prst="rect">
            <a:avLst/>
          </a:prstGeom>
          <a:solidFill>
            <a:srgbClr val="A12944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10" name="LH"/>
          <p:cNvSpPr/>
          <p:nvPr/>
        </p:nvSpPr>
        <p:spPr>
          <a:xfrm>
            <a:off x="74980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방식</a:t>
            </a:r>
            <a:endParaRPr lang="en-US" sz="950" dirty="0"/>
          </a:p>
        </p:txBody>
      </p:sp>
      <p:sp>
        <p:nvSpPr>
          <p:cNvPr id="11" name="LL0"/>
          <p:cNvSpPr/>
          <p:nvPr/>
        </p:nvSpPr>
        <p:spPr>
          <a:xfrm>
            <a:off x="74980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Internal Only 이유</a:t>
            </a:r>
            <a:endParaRPr lang="en-US" sz="950" dirty="0"/>
          </a:p>
        </p:txBody>
      </p:sp>
      <p:sp>
        <p:nvSpPr>
          <p:cNvPr id="12" name="LV0"/>
          <p:cNvSpPr/>
          <p:nvPr/>
        </p:nvSpPr>
        <p:spPr>
          <a:xfrm>
            <a:off x="74980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QFE 서버는 내부 네트워크만 접근 가능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health check 불가 -&gt; localhost poll 방식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/api/v3/version 응답으로 서버 생존 확인</a:t>
            </a:r>
            <a:endParaRPr lang="en-US" sz="950" dirty="0"/>
          </a:p>
        </p:txBody>
      </p:sp>
      <p:sp>
        <p:nvSpPr>
          <p:cNvPr id="13" name="LL1"/>
          <p:cNvSpPr/>
          <p:nvPr/>
        </p:nvSpPr>
        <p:spPr>
          <a:xfrm>
            <a:off x="74980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타이밍</a:t>
            </a:r>
            <a:endParaRPr lang="en-US" sz="950" dirty="0"/>
          </a:p>
        </p:txBody>
      </p:sp>
      <p:sp>
        <p:nvSpPr>
          <p:cNvPr id="14" name="LV1"/>
          <p:cNvSpPr/>
          <p:nvPr/>
        </p:nvSpPr>
        <p:spPr>
          <a:xfrm>
            <a:off x="74980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SCM 이 서비스 종료 이벤트 즉시 감지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on_service_failure.ps1 자동 트리거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직후 로그 수집 시작</a:t>
            </a:r>
            <a:endParaRPr lang="en-US" sz="950" dirty="0"/>
          </a:p>
        </p:txBody>
      </p:sp>
      <p:sp>
        <p:nvSpPr>
          <p:cNvPr id="15" name="LL2"/>
          <p:cNvSpPr/>
          <p:nvPr/>
        </p:nvSpPr>
        <p:spPr>
          <a:xfrm>
            <a:off x="74980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흐름</a:t>
            </a:r>
            <a:endParaRPr lang="en-US" sz="950" dirty="0"/>
          </a:p>
        </p:txBody>
      </p:sp>
      <p:sp>
        <p:nvSpPr>
          <p:cNvPr id="16" name="LV2"/>
          <p:cNvSpPr/>
          <p:nvPr/>
        </p:nvSpPr>
        <p:spPr>
          <a:xfrm>
            <a:off x="74980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-&gt; 로그 수집 -&gt; 서버 재기동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PASS 케이스 Skip -&gt; 나머지 TC 이어서 실행</a:t>
            </a:r>
            <a:endParaRPr lang="en-US" sz="950" dirty="0"/>
          </a:p>
        </p:txBody>
      </p:sp>
      <p:sp>
        <p:nvSpPr>
          <p:cNvPr id="17" name="RC"/>
          <p:cNvSpPr/>
          <p:nvPr/>
        </p:nvSpPr>
        <p:spPr>
          <a:xfrm>
            <a:off x="4818888" y="841248"/>
            <a:ext cx="397764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8" name="RA"/>
          <p:cNvSpPr/>
          <p:nvPr/>
        </p:nvSpPr>
        <p:spPr>
          <a:xfrm>
            <a:off x="4818888" y="841248"/>
            <a:ext cx="54864" cy="3639312"/>
          </a:xfrm>
          <a:prstGeom prst="rect">
            <a:avLst/>
          </a:prstGeom>
          <a:solidFill>
            <a:srgbClr val="78787A"/>
          </a:solidFill>
          <a:ln w="12700">
            <a:solidFill>
              <a:srgbClr val="78787A"/>
            </a:solidFill>
            <a:prstDash val="solid"/>
          </a:ln>
        </p:spPr>
      </p:sp>
      <p:sp>
        <p:nvSpPr>
          <p:cNvPr id="19" name="RH"/>
          <p:cNvSpPr/>
          <p:nvPr/>
        </p:nvSpPr>
        <p:spPr>
          <a:xfrm>
            <a:off x="5001768" y="932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787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보존</a:t>
            </a:r>
            <a:endParaRPr lang="en-US" sz="950" dirty="0"/>
          </a:p>
        </p:txBody>
      </p:sp>
      <p:sp>
        <p:nvSpPr>
          <p:cNvPr id="20" name="RL0"/>
          <p:cNvSpPr/>
          <p:nvPr/>
        </p:nvSpPr>
        <p:spPr>
          <a:xfrm>
            <a:off x="5001768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형식</a:t>
            </a:r>
            <a:endParaRPr lang="en-US" sz="950" dirty="0"/>
          </a:p>
        </p:txBody>
      </p:sp>
      <p:sp>
        <p:nvSpPr>
          <p:cNvPr id="21" name="RV0"/>
          <p:cNvSpPr/>
          <p:nvPr/>
        </p:nvSpPr>
        <p:spPr>
          <a:xfrm>
            <a:off x="5001768" y="15910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crash_log_YYYYMMDD_HHMMSS.txt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타임스탬프 + 서버 마지막 로그 N 줄 캡처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Event Log 항목 포함</a:t>
            </a:r>
            <a:endParaRPr lang="en-US" sz="950" dirty="0"/>
          </a:p>
        </p:txBody>
      </p:sp>
      <p:sp>
        <p:nvSpPr>
          <p:cNvPr id="22" name="RL1"/>
          <p:cNvSpPr/>
          <p:nvPr/>
        </p:nvSpPr>
        <p:spPr>
          <a:xfrm>
            <a:off x="5001768" y="19933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예시</a:t>
            </a:r>
            <a:endParaRPr lang="en-US" sz="950" dirty="0"/>
          </a:p>
        </p:txBody>
      </p:sp>
      <p:sp>
        <p:nvSpPr>
          <p:cNvPr id="23" name="RV1"/>
          <p:cNvSpPr/>
          <p:nvPr/>
        </p:nvSpPr>
        <p:spPr>
          <a:xfrm>
            <a:off x="5001768" y="22311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[2025-05-03 14:22:33] SERVICE_CRASH detected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 PID 4821 terminated unexpectedly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Last 50 lines -&gt; crash_log_20250503_142233.txt</a:t>
            </a:r>
            <a:endParaRPr lang="en-US" sz="950" dirty="0"/>
          </a:p>
        </p:txBody>
      </p:sp>
      <p:sp>
        <p:nvSpPr>
          <p:cNvPr id="24" name="RL2"/>
          <p:cNvSpPr/>
          <p:nvPr/>
        </p:nvSpPr>
        <p:spPr>
          <a:xfrm>
            <a:off x="5001768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보존</a:t>
            </a:r>
            <a:endParaRPr lang="en-US" sz="950" dirty="0"/>
          </a:p>
        </p:txBody>
      </p:sp>
      <p:sp>
        <p:nvSpPr>
          <p:cNvPr id="25" name="RV2"/>
          <p:cNvSpPr/>
          <p:nvPr/>
        </p:nvSpPr>
        <p:spPr>
          <a:xfrm>
            <a:off x="5001768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로그: tests/crash_logs/ 디렉토리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Windows Event Log 동시 기록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재기동 후에도 원인 분석 가능</a:t>
            </a:r>
            <a:endParaRPr lang="en-US" sz="950" dirty="0"/>
          </a:p>
        </p:txBody>
      </p:sp>
      <p:sp>
        <p:nvSpPr>
          <p:cNvPr id="26" name="NB"/>
          <p:cNvSpPr/>
          <p:nvPr/>
        </p:nvSpPr>
        <p:spPr>
          <a:xfrm>
            <a:off x="566928" y="4581144"/>
            <a:ext cx="8229600" cy="201168"/>
          </a:xfrm>
          <a:prstGeom prst="rect">
            <a:avLst/>
          </a:prstGeom>
          <a:solidFill>
            <a:srgbClr val="FDF5F7"/>
          </a:solidFill>
          <a:ln w="12700">
            <a:solidFill>
              <a:srgbClr val="A12944"/>
            </a:solidFill>
            <a:prstDash val="solid"/>
          </a:ln>
        </p:spPr>
      </p:sp>
      <p:sp>
        <p:nvSpPr>
          <p:cNvPr id="27" name="NT"/>
          <p:cNvSpPr/>
          <p:nvPr/>
        </p:nvSpPr>
        <p:spPr>
          <a:xfrm>
            <a:off x="749808" y="4599432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29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크래시 로그는 tests/crash_logs/ 에 자동 보존 — 재기동 후에도 분석 가능, TC 재실행은 PASS Skip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QFE AutoTC 세미나</dc:title>
  <dc:subject>PptxGenJS Presentation</dc:subject>
  <dc:creator>PptxGenJS</dc:creator>
  <cp:lastModifiedBy>PptxGenJS</cp:lastModifiedBy>
  <cp:revision>1</cp:revision>
  <dcterms:created xsi:type="dcterms:W3CDTF">2026-04-29T07:57:09Z</dcterms:created>
  <dcterms:modified xsi:type="dcterms:W3CDTF">2026-04-29T07:57:09Z</dcterms:modified>
</cp:coreProperties>
</file>